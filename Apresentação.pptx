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</p:sldIdLst>
  <p:sldSz cx="9144000" cy="5143500" type="screen16x9"/>
  <p:notesSz cx="51435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clrMru>
    <a:srgbClr val="FF0066"/>
    <a:srgbClr val="FF3399"/>
    <a:srgbClr val="00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713" autoAdjust="0"/>
  </p:normalViewPr>
  <p:slideViewPr>
    <p:cSldViewPr>
      <p:cViewPr varScale="1">
        <p:scale>
          <a:sx n="145" d="100"/>
          <a:sy n="145" d="100"/>
        </p:scale>
        <p:origin x="-654" y="-10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pt-BR" sz="1800" b="0" strike="noStrike" spc="-1">
                <a:solidFill>
                  <a:srgbClr val="000000"/>
                </a:solidFill>
                <a:latin typeface="Calibri"/>
              </a:rPr>
              <a:t>Clique para mover o slide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pt-BR" sz="2000" b="0" strike="noStrike" spc="-1">
                <a:latin typeface="Arial"/>
              </a:rPr>
              <a:t>Clique para editar o formato de notas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pt-BR" sz="1400" b="0" strike="noStrike" spc="-1">
                <a:latin typeface="Times New Roman"/>
              </a:rPr>
              <a:t>&lt;cabeçalho&gt;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pt-BR" sz="1400" b="0" strike="noStrike" spc="-1">
                <a:latin typeface="Times New Roman"/>
              </a:rPr>
              <a:t>&lt;data/hora&gt;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pt-BR" sz="1400" b="0" strike="noStrike" spc="-1">
                <a:latin typeface="Times New Roman"/>
              </a:defRPr>
            </a:lvl1pPr>
          </a:lstStyle>
          <a:p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3298C87B-FF22-4835-B08C-8BD70A62F6E9}" type="slidenum">
              <a:rPr lang="pt-BR" sz="1400" b="0" strike="noStrike" spc="-1">
                <a:latin typeface="Times New Roman"/>
              </a:rPr>
              <a:pPr algn="r">
                <a:buNone/>
              </a:pPr>
              <a:t>‹nº›</a:t>
            </a:fld>
            <a:endParaRPr lang="pt-BR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FD4C92DD-F12C-47C2-8C55-462FCA7EBD66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pPr>
                <a:lnSpc>
                  <a:spcPct val="100000"/>
                </a:lnSpc>
                <a:buNone/>
              </a:pPr>
              <a:t>1</a:t>
            </a:fld>
            <a:endParaRPr lang="pt-BR" sz="18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1D4BACC1-2CD4-4CFE-AD2C-CA923C33C5C9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pPr>
                <a:lnSpc>
                  <a:spcPct val="100000"/>
                </a:lnSpc>
                <a:buNone/>
              </a:pPr>
              <a:t>2</a:t>
            </a:fld>
            <a:endParaRPr lang="pt-BR" sz="18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E5AE1C7B-ED9E-4C9E-AB13-F195FFA7C32A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pPr>
                <a:lnSpc>
                  <a:spcPct val="100000"/>
                </a:lnSpc>
                <a:buNone/>
              </a:pPr>
              <a:t>3</a:t>
            </a:fld>
            <a:endParaRPr lang="pt-BR" sz="18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9E8DD0A0-108A-4770-99B7-6255CD200FE8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pPr>
                <a:lnSpc>
                  <a:spcPct val="100000"/>
                </a:lnSpc>
                <a:buNone/>
              </a:pPr>
              <a:t>4</a:t>
            </a:fld>
            <a:endParaRPr lang="pt-BR" sz="18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685E27CD-69E1-4452-82AF-E3C8432F4A88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pPr>
                <a:lnSpc>
                  <a:spcPct val="100000"/>
                </a:lnSpc>
                <a:buNone/>
              </a:pPr>
              <a:t>5</a:t>
            </a:fld>
            <a:endParaRPr lang="pt-BR" sz="18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949EC535-4C30-471C-9D62-A6873B163605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pPr>
                <a:lnSpc>
                  <a:spcPct val="100000"/>
                </a:lnSpc>
                <a:buNone/>
              </a:pPr>
              <a:t>6</a:t>
            </a:fld>
            <a:endParaRPr lang="pt-BR" sz="18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44E3A5DC-016A-424D-B320-5DDA96CEA2FE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pPr>
                <a:lnSpc>
                  <a:spcPct val="100000"/>
                </a:lnSpc>
                <a:buNone/>
              </a:pPr>
              <a:t>7</a:t>
            </a:fld>
            <a:endParaRPr lang="pt-BR" sz="18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44E3A5DC-016A-424D-B320-5DDA96CEA2FE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pPr>
                <a:lnSpc>
                  <a:spcPct val="100000"/>
                </a:lnSpc>
                <a:buNone/>
              </a:pPr>
              <a:t>8</a:t>
            </a:fld>
            <a:endParaRPr lang="pt-BR" sz="18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pt-BR" sz="1800" b="0" strike="noStrike" spc="-1">
                <a:solidFill>
                  <a:srgbClr val="000000"/>
                </a:solidFill>
                <a:latin typeface="Calibri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Calibri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strike="noStrike" spc="-1">
                <a:solidFill>
                  <a:srgbClr val="000000"/>
                </a:solidFill>
                <a:latin typeface="Calibri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preencoded.png"/>
          <p:cNvPicPr/>
          <p:nvPr/>
        </p:nvPicPr>
        <p:blipFill>
          <a:blip r:embed="rId3" cstate="print"/>
          <a:stretch/>
        </p:blipFill>
        <p:spPr>
          <a:xfrm>
            <a:off x="0" y="0"/>
            <a:ext cx="9143640" cy="5488920"/>
          </a:xfrm>
          <a:prstGeom prst="rect">
            <a:avLst/>
          </a:prstGeom>
          <a:ln w="0">
            <a:noFill/>
          </a:ln>
        </p:spPr>
      </p:pic>
      <p:sp>
        <p:nvSpPr>
          <p:cNvPr id="45" name="Text 0"/>
          <p:cNvSpPr/>
          <p:nvPr/>
        </p:nvSpPr>
        <p:spPr>
          <a:xfrm>
            <a:off x="4276142" y="273333"/>
            <a:ext cx="590996" cy="3108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20" b="1" strike="noStrike" spc="-1" dirty="0">
                <a:solidFill>
                  <a:srgbClr val="FF0066"/>
                </a:solidFill>
                <a:latin typeface="Noto Sans"/>
                <a:ea typeface="Noto Sans"/>
              </a:rPr>
              <a:t>FIAP</a:t>
            </a:r>
            <a:endParaRPr lang="pt-BR" sz="2020" b="0" strike="noStrike" spc="-1" dirty="0">
              <a:solidFill>
                <a:srgbClr val="FF0066"/>
              </a:solidFill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3610772" y="656017"/>
            <a:ext cx="1921745" cy="1445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39" b="0" strike="noStrike" spc="-1" dirty="0">
                <a:solidFill>
                  <a:srgbClr val="9CA3AF"/>
                </a:solidFill>
                <a:latin typeface="Noto Sans"/>
                <a:ea typeface="Noto Sans"/>
              </a:rPr>
              <a:t>POSTECH </a:t>
            </a:r>
            <a:r>
              <a:rPr lang="en-US" sz="939" b="0" strike="noStrike" spc="-1" dirty="0" smtClean="0">
                <a:solidFill>
                  <a:srgbClr val="9CA3AF"/>
                </a:solidFill>
                <a:latin typeface="Noto Sans"/>
                <a:ea typeface="Noto Sans"/>
              </a:rPr>
              <a:t>– </a:t>
            </a:r>
            <a:r>
              <a:rPr lang="en-US" sz="939" spc="-1" dirty="0" smtClean="0">
                <a:solidFill>
                  <a:srgbClr val="9CA3AF"/>
                </a:solidFill>
                <a:latin typeface="Noto Sans"/>
                <a:ea typeface="Noto Sans"/>
              </a:rPr>
              <a:t>DATATHON – FASE 5</a:t>
            </a:r>
            <a:endParaRPr lang="pt-BR" sz="939" b="0" strike="noStrike" spc="-1" dirty="0"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416068" y="1644516"/>
            <a:ext cx="8311891" cy="4924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spc="-4" dirty="0" smtClean="0">
                <a:solidFill>
                  <a:srgbClr val="FFFFFF"/>
                </a:solidFill>
                <a:latin typeface="Noto Sans"/>
              </a:rPr>
              <a:t>Classificação de Reclamações Financeiras</a:t>
            </a:r>
            <a:endParaRPr lang="pt-BR" sz="4050" b="0" strike="noStrike" spc="-1" dirty="0"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1343371" y="2367339"/>
            <a:ext cx="6457281" cy="4924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spc="-4" dirty="0" smtClean="0">
                <a:solidFill>
                  <a:srgbClr val="FF0066"/>
                </a:solidFill>
                <a:latin typeface="Noto Sans"/>
              </a:rPr>
              <a:t>e Análise das Dores dos Clientes</a:t>
            </a:r>
            <a:endParaRPr lang="pt-BR" sz="3200" b="0" strike="noStrike" spc="-1" dirty="0">
              <a:solidFill>
                <a:srgbClr val="FF0066"/>
              </a:solidFill>
              <a:latin typeface="Arial"/>
            </a:endParaRPr>
          </a:p>
        </p:txBody>
      </p:sp>
      <p:sp>
        <p:nvSpPr>
          <p:cNvPr id="50" name="Text 5"/>
          <p:cNvSpPr/>
          <p:nvPr/>
        </p:nvSpPr>
        <p:spPr>
          <a:xfrm>
            <a:off x="3355200" y="3075806"/>
            <a:ext cx="243324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50" b="0" strike="noStrike" spc="-1" dirty="0">
                <a:solidFill>
                  <a:srgbClr val="CCCCCC"/>
                </a:solidFill>
                <a:latin typeface="Noto Sans"/>
                <a:ea typeface="Noto Sans"/>
              </a:rPr>
              <a:t>Eduardo Jorge Lacerda Pereira</a:t>
            </a:r>
            <a:endParaRPr lang="pt-BR" sz="1350" b="0" strike="noStrike" spc="-1" dirty="0"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3421440" y="3354094"/>
            <a:ext cx="230076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50" b="0" strike="noStrike" spc="-1">
                <a:solidFill>
                  <a:srgbClr val="CCCCCC"/>
                </a:solidFill>
                <a:latin typeface="Noto Sans"/>
                <a:ea typeface="Noto Sans"/>
              </a:rPr>
              <a:t>Erikson Machado dos Santos</a:t>
            </a:r>
            <a:endParaRPr lang="pt-BR" sz="1350" b="0" strike="noStrike" spc="-1"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3556800" y="3642126"/>
            <a:ext cx="202968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50" b="0" strike="noStrike" spc="-1" smtClean="0">
                <a:solidFill>
                  <a:srgbClr val="CCCCCC"/>
                </a:solidFill>
                <a:latin typeface="Noto Sans"/>
                <a:ea typeface="Noto Sans"/>
              </a:rPr>
              <a:t>Mariangela </a:t>
            </a:r>
            <a:r>
              <a:rPr lang="en-US" sz="1350" b="0" strike="noStrike" spc="-1">
                <a:solidFill>
                  <a:srgbClr val="CCCCCC"/>
                </a:solidFill>
                <a:latin typeface="Noto Sans"/>
                <a:ea typeface="Noto Sans"/>
              </a:rPr>
              <a:t>da Silva Tapia</a:t>
            </a:r>
            <a:endParaRPr lang="pt-BR" sz="1350" b="0" strike="noStrike" spc="-1">
              <a:latin typeface="Arial"/>
            </a:endParaRPr>
          </a:p>
        </p:txBody>
      </p:sp>
      <p:sp>
        <p:nvSpPr>
          <p:cNvPr id="53" name="Text 8"/>
          <p:cNvSpPr/>
          <p:nvPr/>
        </p:nvSpPr>
        <p:spPr>
          <a:xfrm>
            <a:off x="3181320" y="3930158"/>
            <a:ext cx="278100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50" b="0" strike="noStrike" spc="-1" dirty="0">
                <a:solidFill>
                  <a:srgbClr val="CCCCCC"/>
                </a:solidFill>
                <a:latin typeface="Noto Sans"/>
                <a:ea typeface="Noto Sans"/>
              </a:rPr>
              <a:t>Marcos Aurelio Rodrigues de Paiva</a:t>
            </a:r>
            <a:endParaRPr lang="pt-BR" sz="1350" b="0" strike="noStrike" spc="-1" dirty="0"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4122028" y="4731990"/>
            <a:ext cx="899221" cy="1615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spc="-1" dirty="0" err="1" smtClean="0">
                <a:solidFill>
                  <a:srgbClr val="D1D5DB"/>
                </a:solidFill>
                <a:latin typeface="Noto Sans"/>
                <a:ea typeface="Noto Sans"/>
              </a:rPr>
              <a:t>Março</a:t>
            </a:r>
            <a:r>
              <a:rPr lang="en-US" sz="1050" spc="-1" dirty="0" smtClean="0">
                <a:solidFill>
                  <a:srgbClr val="D1D5DB"/>
                </a:solidFill>
                <a:latin typeface="Noto Sans"/>
                <a:ea typeface="Noto Sans"/>
              </a:rPr>
              <a:t> </a:t>
            </a:r>
            <a:r>
              <a:rPr lang="en-US" sz="1050" b="0" strike="noStrike" spc="-1" dirty="0" smtClean="0">
                <a:solidFill>
                  <a:srgbClr val="D1D5DB"/>
                </a:solidFill>
                <a:latin typeface="Noto Sans"/>
                <a:ea typeface="Noto Sans"/>
              </a:rPr>
              <a:t>de </a:t>
            </a:r>
            <a:r>
              <a:rPr lang="en-US" sz="1050" b="0" strike="noStrike" spc="-1" dirty="0" smtClean="0">
                <a:solidFill>
                  <a:srgbClr val="D1D5DB"/>
                </a:solidFill>
                <a:latin typeface="Noto Sans"/>
                <a:ea typeface="Noto Sans"/>
              </a:rPr>
              <a:t>2026</a:t>
            </a:r>
            <a:endParaRPr lang="pt-BR" sz="1050" b="0" strike="noStrike" spc="-1" dirty="0">
              <a:latin typeface="Arial"/>
            </a:endParaRPr>
          </a:p>
        </p:txBody>
      </p:sp>
      <p:sp>
        <p:nvSpPr>
          <p:cNvPr id="14" name="Text 7"/>
          <p:cNvSpPr/>
          <p:nvPr/>
        </p:nvSpPr>
        <p:spPr>
          <a:xfrm>
            <a:off x="3722410" y="4216721"/>
            <a:ext cx="1712648" cy="2077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50" b="0" strike="noStrike" spc="-1" dirty="0" smtClean="0">
                <a:solidFill>
                  <a:srgbClr val="CCCCCC"/>
                </a:solidFill>
                <a:latin typeface="Noto Sans"/>
                <a:ea typeface="Noto Sans"/>
              </a:rPr>
              <a:t>Moacir Carlos Wagner</a:t>
            </a:r>
            <a:endParaRPr lang="pt-BR" sz="135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upo 3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4" name="Retângulo 3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8" name="Conector reto 37"/>
            <p:cNvCxnSpPr/>
            <p:nvPr/>
          </p:nvCxnSpPr>
          <p:spPr>
            <a:xfrm>
              <a:off x="204912" y="4655666"/>
              <a:ext cx="864096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Shape 1"/>
          <p:cNvSpPr/>
          <p:nvPr/>
        </p:nvSpPr>
        <p:spPr>
          <a:xfrm>
            <a:off x="251520" y="1203598"/>
            <a:ext cx="8591872" cy="2664296"/>
          </a:xfrm>
          <a:prstGeom prst="rect">
            <a:avLst/>
          </a:prstGeom>
          <a:solidFill>
            <a:srgbClr val="0066CC">
              <a:alpha val="10000"/>
            </a:srgbClr>
          </a:solidFill>
          <a:ln w="99">
            <a:solidFill>
              <a:srgbClr val="FF008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" name="Text 2"/>
          <p:cNvSpPr/>
          <p:nvPr/>
        </p:nvSpPr>
        <p:spPr>
          <a:xfrm>
            <a:off x="490122" y="1481532"/>
            <a:ext cx="8042318" cy="21703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6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Neste projeto desenvolvemos </a:t>
            </a:r>
            <a:r>
              <a:rPr lang="pt-BR" sz="16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uma solução </a:t>
            </a:r>
            <a:r>
              <a:rPr lang="pt-BR" sz="16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para </a:t>
            </a:r>
            <a:r>
              <a:rPr lang="pt-BR" sz="16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classificar automaticamente o sentimento de reclamações de consumidores financeiros do dataset </a:t>
            </a:r>
            <a:r>
              <a:rPr lang="pt-BR" sz="1600" b="1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CFPB</a:t>
            </a:r>
            <a:r>
              <a:rPr lang="pt-BR" sz="16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. </a:t>
            </a:r>
            <a:r>
              <a:rPr lang="pt-BR" sz="16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Nele evoluímos de </a:t>
            </a:r>
            <a:r>
              <a:rPr lang="pt-BR" sz="16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uma modelagem clássica para </a:t>
            </a:r>
            <a:r>
              <a:rPr lang="pt-BR" sz="1600" b="1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Deep Learning</a:t>
            </a:r>
            <a:r>
              <a:rPr lang="pt-BR" sz="16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, permitindo não apenas a classificação de satisfação, mas a identificação granular dos motivos de insatisfação por categoria de produto, gerando </a:t>
            </a:r>
            <a:r>
              <a:rPr lang="pt-BR" sz="1600" i="1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insights</a:t>
            </a:r>
            <a:r>
              <a:rPr lang="pt-BR" sz="16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 acionáveis para a redução de </a:t>
            </a:r>
            <a:r>
              <a:rPr lang="pt-BR" sz="1600" i="1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churn</a:t>
            </a:r>
            <a:r>
              <a:rPr lang="pt-BR" sz="16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 e melhoria operacional.</a:t>
            </a:r>
            <a:endParaRPr lang="pt-BR" sz="1600" b="1" strike="noStrike" spc="-1" dirty="0">
              <a:solidFill>
                <a:schemeClr val="bg1">
                  <a:lumMod val="75000"/>
                </a:schemeClr>
              </a:solidFill>
              <a:latin typeface="Noto Sans"/>
            </a:endParaRPr>
          </a:p>
        </p:txBody>
      </p:sp>
      <p:sp>
        <p:nvSpPr>
          <p:cNvPr id="82" name="Text 23"/>
          <p:cNvSpPr/>
          <p:nvPr/>
        </p:nvSpPr>
        <p:spPr>
          <a:xfrm>
            <a:off x="8804160" y="4781705"/>
            <a:ext cx="115160" cy="1231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1" strike="noStrike" spc="-1" dirty="0">
                <a:solidFill>
                  <a:srgbClr val="FF0066"/>
                </a:solidFill>
                <a:latin typeface="Noto Sans"/>
                <a:ea typeface="Noto Sans"/>
              </a:rPr>
              <a:t>02</a:t>
            </a:r>
            <a:endParaRPr lang="pt-BR" sz="800" b="0" strike="noStrike" spc="-1" dirty="0">
              <a:solidFill>
                <a:srgbClr val="FF0066"/>
              </a:solidFill>
              <a:latin typeface="Arial"/>
            </a:endParaRPr>
          </a:p>
        </p:txBody>
      </p:sp>
      <p:sp>
        <p:nvSpPr>
          <p:cNvPr id="19" name="Text 0"/>
          <p:cNvSpPr/>
          <p:nvPr/>
        </p:nvSpPr>
        <p:spPr>
          <a:xfrm>
            <a:off x="4276142" y="273333"/>
            <a:ext cx="590996" cy="3108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20" b="1" strike="noStrike" spc="-1" dirty="0">
                <a:solidFill>
                  <a:srgbClr val="FF0066"/>
                </a:solidFill>
                <a:latin typeface="Noto Sans"/>
                <a:ea typeface="Noto Sans"/>
              </a:rPr>
              <a:t>FIAP</a:t>
            </a:r>
            <a:endParaRPr lang="pt-BR" sz="2020" b="0" strike="noStrike" spc="-1" dirty="0">
              <a:solidFill>
                <a:srgbClr val="FF0066"/>
              </a:solidFill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3610772" y="656017"/>
            <a:ext cx="1921745" cy="1445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39" b="0" strike="noStrike" spc="-1" dirty="0">
                <a:solidFill>
                  <a:srgbClr val="9CA3AF"/>
                </a:solidFill>
                <a:latin typeface="Noto Sans"/>
                <a:ea typeface="Noto Sans"/>
              </a:rPr>
              <a:t>POSTECH </a:t>
            </a:r>
            <a:r>
              <a:rPr lang="en-US" sz="939" b="0" strike="noStrike" spc="-1" dirty="0" smtClean="0">
                <a:solidFill>
                  <a:srgbClr val="9CA3AF"/>
                </a:solidFill>
                <a:latin typeface="Noto Sans"/>
                <a:ea typeface="Noto Sans"/>
              </a:rPr>
              <a:t>– </a:t>
            </a:r>
            <a:r>
              <a:rPr lang="en-US" sz="939" spc="-1" dirty="0" smtClean="0">
                <a:solidFill>
                  <a:srgbClr val="9CA3AF"/>
                </a:solidFill>
                <a:latin typeface="Noto Sans"/>
                <a:ea typeface="Noto Sans"/>
              </a:rPr>
              <a:t>DATATHON – FASE 5</a:t>
            </a:r>
            <a:endParaRPr lang="pt-BR" sz="939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upo 4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2" name="Retângulo 41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4" name="Conector reto 43"/>
            <p:cNvCxnSpPr/>
            <p:nvPr/>
          </p:nvCxnSpPr>
          <p:spPr>
            <a:xfrm>
              <a:off x="204912" y="4655666"/>
              <a:ext cx="864096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Text 34"/>
          <p:cNvSpPr/>
          <p:nvPr/>
        </p:nvSpPr>
        <p:spPr>
          <a:xfrm>
            <a:off x="8804160" y="4781705"/>
            <a:ext cx="115160" cy="1231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1" strike="noStrike" spc="-1" dirty="0">
                <a:solidFill>
                  <a:srgbClr val="FF0066"/>
                </a:solidFill>
                <a:latin typeface="Noto Sans"/>
                <a:ea typeface="Noto Sans"/>
              </a:rPr>
              <a:t>03</a:t>
            </a:r>
            <a:endParaRPr lang="pt-BR" sz="800" b="0" strike="noStrike" spc="-1" dirty="0">
              <a:solidFill>
                <a:srgbClr val="FF0066"/>
              </a:solidFill>
              <a:latin typeface="Noto Sans"/>
            </a:endParaRPr>
          </a:p>
        </p:txBody>
      </p:sp>
      <p:sp>
        <p:nvSpPr>
          <p:cNvPr id="45" name="Shape 1"/>
          <p:cNvSpPr/>
          <p:nvPr/>
        </p:nvSpPr>
        <p:spPr>
          <a:xfrm>
            <a:off x="2627784" y="987574"/>
            <a:ext cx="3816424" cy="432048"/>
          </a:xfrm>
          <a:prstGeom prst="rect">
            <a:avLst/>
          </a:prstGeom>
          <a:solidFill>
            <a:srgbClr val="0066CC">
              <a:alpha val="10000"/>
            </a:srgbClr>
          </a:solidFill>
          <a:ln w="99">
            <a:solidFill>
              <a:srgbClr val="FF008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Text 2"/>
          <p:cNvSpPr/>
          <p:nvPr/>
        </p:nvSpPr>
        <p:spPr>
          <a:xfrm>
            <a:off x="3131840" y="1100812"/>
            <a:ext cx="2778005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dirty="0" smtClean="0">
                <a:solidFill>
                  <a:srgbClr val="FF0066"/>
                </a:solidFill>
                <a:latin typeface="Noto Sans"/>
              </a:rPr>
              <a:t>Destaques e Resultados Principais</a:t>
            </a:r>
            <a:endParaRPr lang="pt-BR" sz="1400" b="1" strike="noStrike" spc="-1" dirty="0">
              <a:solidFill>
                <a:srgbClr val="FF0066"/>
              </a:solidFill>
              <a:latin typeface="Noto Sans"/>
            </a:endParaRPr>
          </a:p>
        </p:txBody>
      </p:sp>
      <p:sp>
        <p:nvSpPr>
          <p:cNvPr id="25" name="Text 0"/>
          <p:cNvSpPr/>
          <p:nvPr/>
        </p:nvSpPr>
        <p:spPr>
          <a:xfrm>
            <a:off x="4276142" y="273333"/>
            <a:ext cx="590996" cy="3108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20" b="1" strike="noStrike" spc="-1" dirty="0">
                <a:solidFill>
                  <a:srgbClr val="FF0066"/>
                </a:solidFill>
                <a:latin typeface="Noto Sans"/>
                <a:ea typeface="Noto Sans"/>
              </a:rPr>
              <a:t>FIAP</a:t>
            </a:r>
            <a:endParaRPr lang="pt-BR" sz="2020" b="0" strike="noStrike" spc="-1" dirty="0">
              <a:solidFill>
                <a:srgbClr val="FF0066"/>
              </a:solidFill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3610772" y="656017"/>
            <a:ext cx="1921745" cy="1445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39" b="0" strike="noStrike" spc="-1" dirty="0">
                <a:solidFill>
                  <a:srgbClr val="9CA3AF"/>
                </a:solidFill>
                <a:latin typeface="Noto Sans"/>
                <a:ea typeface="Noto Sans"/>
              </a:rPr>
              <a:t>POSTECH </a:t>
            </a:r>
            <a:r>
              <a:rPr lang="en-US" sz="939" b="0" strike="noStrike" spc="-1" dirty="0" smtClean="0">
                <a:solidFill>
                  <a:srgbClr val="9CA3AF"/>
                </a:solidFill>
                <a:latin typeface="Noto Sans"/>
                <a:ea typeface="Noto Sans"/>
              </a:rPr>
              <a:t>– </a:t>
            </a:r>
            <a:r>
              <a:rPr lang="en-US" sz="939" spc="-1" dirty="0" smtClean="0">
                <a:solidFill>
                  <a:srgbClr val="9CA3AF"/>
                </a:solidFill>
                <a:latin typeface="Noto Sans"/>
                <a:ea typeface="Noto Sans"/>
              </a:rPr>
              <a:t>DATATHON – FASE 5</a:t>
            </a:r>
            <a:endParaRPr lang="pt-BR" sz="939" b="0" strike="noStrike" spc="-1" dirty="0"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467544" y="1780242"/>
            <a:ext cx="7139262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r>
              <a:rPr lang="pt-BR" sz="1400" b="1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Volumetria:</a:t>
            </a:r>
            <a:r>
              <a:rPr lang="pt-BR" sz="1400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 Processamento de uma base histórica de </a:t>
            </a:r>
            <a:r>
              <a:rPr lang="pt-BR" sz="1400" b="1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2,5 milhões</a:t>
            </a:r>
            <a:r>
              <a:rPr lang="pt-BR" sz="1400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 de reclamações reais.</a:t>
            </a:r>
            <a:endParaRPr lang="pt-BR" sz="1400" dirty="0">
              <a:solidFill>
                <a:schemeClr val="bg1">
                  <a:lumMod val="65000"/>
                </a:schemeClr>
              </a:solidFill>
              <a:latin typeface="Noto Sans"/>
            </a:endParaRPr>
          </a:p>
        </p:txBody>
      </p:sp>
      <p:sp>
        <p:nvSpPr>
          <p:cNvPr id="28" name="Text 5"/>
          <p:cNvSpPr/>
          <p:nvPr/>
        </p:nvSpPr>
        <p:spPr>
          <a:xfrm>
            <a:off x="467545" y="2212871"/>
            <a:ext cx="7704856" cy="4308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r>
              <a:rPr lang="pt-BR" sz="1400" b="1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Inovação Técnica:</a:t>
            </a:r>
            <a:r>
              <a:rPr lang="pt-BR" sz="1400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 Implementação de uma Rede Neural Recorrente (</a:t>
            </a:r>
            <a:r>
              <a:rPr lang="pt-BR" sz="1400" b="1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LSTM</a:t>
            </a:r>
            <a:r>
              <a:rPr lang="pt-BR" sz="1400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) com camadas de </a:t>
            </a:r>
            <a:r>
              <a:rPr lang="pt-BR" sz="1400" i="1" dirty="0" err="1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Embedding</a:t>
            </a:r>
            <a:r>
              <a:rPr lang="pt-BR" sz="1400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 e </a:t>
            </a:r>
            <a:r>
              <a:rPr lang="pt-BR" sz="1400" i="1" dirty="0" err="1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Dropout</a:t>
            </a:r>
            <a:r>
              <a:rPr lang="pt-BR" sz="1400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.</a:t>
            </a:r>
            <a:endParaRPr lang="pt-BR" sz="1400" dirty="0">
              <a:solidFill>
                <a:schemeClr val="bg1">
                  <a:lumMod val="65000"/>
                </a:schemeClr>
              </a:solidFill>
              <a:latin typeface="Noto Sans"/>
            </a:endParaRPr>
          </a:p>
        </p:txBody>
      </p:sp>
      <p:sp>
        <p:nvSpPr>
          <p:cNvPr id="29" name="Text 5"/>
          <p:cNvSpPr/>
          <p:nvPr/>
        </p:nvSpPr>
        <p:spPr>
          <a:xfrm>
            <a:off x="467544" y="2860943"/>
            <a:ext cx="7704856" cy="4308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r>
              <a:rPr lang="pt-BR" sz="1400" b="1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Salto de Performance:</a:t>
            </a:r>
            <a:r>
              <a:rPr lang="pt-BR" sz="1400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 Acurácia final de </a:t>
            </a:r>
            <a:r>
              <a:rPr lang="pt-BR" sz="1400" b="1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83,38%</a:t>
            </a:r>
            <a:r>
              <a:rPr lang="pt-BR" sz="1400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, representando um ganho de </a:t>
            </a:r>
            <a:r>
              <a:rPr lang="pt-BR" sz="1400" b="1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18,5%</a:t>
            </a:r>
            <a:r>
              <a:rPr lang="pt-BR" sz="1400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 sobre o modelo de </a:t>
            </a:r>
            <a:r>
              <a:rPr lang="pt-BR" sz="1400" i="1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baseline</a:t>
            </a:r>
            <a:r>
              <a:rPr lang="pt-BR" sz="1400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 (Regressão Logística, 64,8%).</a:t>
            </a:r>
            <a:endParaRPr lang="pt-BR" sz="1400" dirty="0">
              <a:solidFill>
                <a:schemeClr val="bg1">
                  <a:lumMod val="65000"/>
                </a:schemeClr>
              </a:solidFill>
              <a:latin typeface="Noto Sans"/>
            </a:endParaRPr>
          </a:p>
        </p:txBody>
      </p:sp>
      <p:sp>
        <p:nvSpPr>
          <p:cNvPr id="30" name="Text 5"/>
          <p:cNvSpPr/>
          <p:nvPr/>
        </p:nvSpPr>
        <p:spPr>
          <a:xfrm>
            <a:off x="467544" y="3509015"/>
            <a:ext cx="7632848" cy="4308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r>
              <a:rPr lang="pt-BR" sz="1400" b="1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Visibilidade Operacional:</a:t>
            </a:r>
            <a:r>
              <a:rPr lang="pt-BR" sz="1400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 Identificação automática de </a:t>
            </a:r>
            <a:r>
              <a:rPr lang="pt-BR" sz="1400" b="1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 </a:t>
            </a:r>
            <a:r>
              <a:rPr lang="pt-BR" sz="1400" b="1" dirty="0" err="1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macro-temas</a:t>
            </a:r>
            <a:r>
              <a:rPr lang="pt-BR" sz="1400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 de </a:t>
            </a:r>
            <a:r>
              <a:rPr lang="pt-BR" sz="1400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insatisfação como por exemplo: </a:t>
            </a:r>
            <a:r>
              <a:rPr lang="pt-BR" sz="1400" i="1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Integridade </a:t>
            </a:r>
            <a:r>
              <a:rPr lang="pt-BR" sz="1400" i="1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de Dados</a:t>
            </a:r>
            <a:r>
              <a:rPr lang="pt-BR" sz="1400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, </a:t>
            </a:r>
            <a:r>
              <a:rPr lang="pt-BR" sz="1400" i="1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Conduta de Cobrança</a:t>
            </a:r>
            <a:r>
              <a:rPr lang="pt-BR" sz="1400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 e </a:t>
            </a:r>
            <a:r>
              <a:rPr lang="pt-BR" sz="1400" i="1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Obstáculos </a:t>
            </a:r>
            <a:r>
              <a:rPr lang="pt-BR" sz="1400" i="1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Processuais</a:t>
            </a:r>
            <a:r>
              <a:rPr lang="pt-BR" sz="1400" dirty="0" smtClean="0">
                <a:solidFill>
                  <a:schemeClr val="bg1">
                    <a:lumMod val="65000"/>
                  </a:schemeClr>
                </a:solidFill>
                <a:latin typeface="Noto Sans"/>
              </a:rPr>
              <a:t>.</a:t>
            </a:r>
            <a:endParaRPr lang="pt-BR" sz="1400" dirty="0">
              <a:solidFill>
                <a:schemeClr val="bg1">
                  <a:lumMod val="65000"/>
                </a:schemeClr>
              </a:solidFill>
              <a:latin typeface="Noto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upo 3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9" name="Retângulo 3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1" name="Conector reto 40"/>
            <p:cNvCxnSpPr/>
            <p:nvPr/>
          </p:nvCxnSpPr>
          <p:spPr>
            <a:xfrm>
              <a:off x="204912" y="4655666"/>
              <a:ext cx="864096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1" name="Text 34"/>
          <p:cNvSpPr/>
          <p:nvPr/>
        </p:nvSpPr>
        <p:spPr>
          <a:xfrm>
            <a:off x="8797912" y="4773801"/>
            <a:ext cx="238584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1" strike="noStrike" spc="-1" dirty="0">
                <a:solidFill>
                  <a:srgbClr val="FF0066"/>
                </a:solidFill>
                <a:latin typeface="Noto Sans"/>
                <a:ea typeface="Noto Sans"/>
              </a:rPr>
              <a:t>04</a:t>
            </a:r>
            <a:endParaRPr lang="pt-BR" sz="800" b="0" strike="noStrike" spc="-1" dirty="0">
              <a:solidFill>
                <a:srgbClr val="FF0066"/>
              </a:solidFill>
              <a:latin typeface="Noto Sans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pt-BR" sz="800" b="0" strike="noStrike" spc="-1" dirty="0">
              <a:solidFill>
                <a:srgbClr val="FF0066"/>
              </a:solidFill>
              <a:latin typeface="Noto Sans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755576" y="627534"/>
            <a:ext cx="7848872" cy="432048"/>
          </a:xfrm>
          <a:prstGeom prst="rect">
            <a:avLst/>
          </a:prstGeom>
          <a:solidFill>
            <a:srgbClr val="0066CC">
              <a:alpha val="10000"/>
            </a:srgbClr>
          </a:solidFill>
          <a:ln w="99">
            <a:solidFill>
              <a:srgbClr val="FF008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Text 2"/>
          <p:cNvSpPr/>
          <p:nvPr/>
        </p:nvSpPr>
        <p:spPr>
          <a:xfrm>
            <a:off x="1763688" y="740772"/>
            <a:ext cx="4775346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dirty="0" smtClean="0">
                <a:solidFill>
                  <a:srgbClr val="FF0066"/>
                </a:solidFill>
                <a:latin typeface="Noto Sans"/>
              </a:rPr>
              <a:t>Análise dos principais termos/temas negativos por categoria</a:t>
            </a:r>
            <a:endParaRPr lang="pt-BR" sz="1400" b="1" strike="noStrike" spc="-1" dirty="0">
              <a:solidFill>
                <a:srgbClr val="FF0066"/>
              </a:solidFill>
              <a:latin typeface="Noto Sans"/>
            </a:endParaRPr>
          </a:p>
        </p:txBody>
      </p:sp>
      <p:sp>
        <p:nvSpPr>
          <p:cNvPr id="18" name="Text 0"/>
          <p:cNvSpPr/>
          <p:nvPr/>
        </p:nvSpPr>
        <p:spPr>
          <a:xfrm>
            <a:off x="4276142" y="51470"/>
            <a:ext cx="590996" cy="3108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20" b="1" strike="noStrike" spc="-1" dirty="0">
                <a:solidFill>
                  <a:srgbClr val="FF0066"/>
                </a:solidFill>
                <a:latin typeface="Noto Sans"/>
                <a:ea typeface="Noto Sans"/>
              </a:rPr>
              <a:t>FIAP</a:t>
            </a:r>
            <a:endParaRPr lang="pt-BR" sz="2020" b="0" strike="noStrike" spc="-1" dirty="0">
              <a:solidFill>
                <a:srgbClr val="FF0066"/>
              </a:solidFill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3610772" y="434154"/>
            <a:ext cx="1921745" cy="1445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39" b="0" strike="noStrike" spc="-1" dirty="0">
                <a:solidFill>
                  <a:srgbClr val="9CA3AF"/>
                </a:solidFill>
                <a:latin typeface="Noto Sans"/>
                <a:ea typeface="Noto Sans"/>
              </a:rPr>
              <a:t>POSTECH </a:t>
            </a:r>
            <a:r>
              <a:rPr lang="en-US" sz="939" b="0" strike="noStrike" spc="-1" dirty="0" smtClean="0">
                <a:solidFill>
                  <a:srgbClr val="9CA3AF"/>
                </a:solidFill>
                <a:latin typeface="Noto Sans"/>
                <a:ea typeface="Noto Sans"/>
              </a:rPr>
              <a:t>– </a:t>
            </a:r>
            <a:r>
              <a:rPr lang="en-US" sz="939" spc="-1" dirty="0" smtClean="0">
                <a:solidFill>
                  <a:srgbClr val="9CA3AF"/>
                </a:solidFill>
                <a:latin typeface="Noto Sans"/>
                <a:ea typeface="Noto Sans"/>
              </a:rPr>
              <a:t>DATATHON – FASE 5</a:t>
            </a:r>
            <a:endParaRPr lang="pt-BR" sz="939" b="0" strike="noStrike" spc="-1" dirty="0">
              <a:latin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39" y="1203598"/>
            <a:ext cx="4483281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0" y="1203598"/>
            <a:ext cx="4483282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" name="Text 5"/>
          <p:cNvSpPr/>
          <p:nvPr/>
        </p:nvSpPr>
        <p:spPr>
          <a:xfrm>
            <a:off x="467544" y="2787774"/>
            <a:ext cx="8016362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r>
              <a:rPr lang="pt-BR" sz="1400" dirty="0" smtClean="0">
                <a:solidFill>
                  <a:srgbClr val="FF0066"/>
                </a:solidFill>
                <a:latin typeface="Noto Sans"/>
              </a:rPr>
              <a:t>Estes dois gráficos são muito parecidos porque tratam da mesma dor. Observe as palavras gigantes:</a:t>
            </a:r>
            <a:endParaRPr lang="pt-BR" sz="1400" dirty="0">
              <a:solidFill>
                <a:srgbClr val="FF0066"/>
              </a:solidFill>
              <a:latin typeface="Noto Sans"/>
            </a:endParaRPr>
          </a:p>
        </p:txBody>
      </p:sp>
      <p:sp>
        <p:nvSpPr>
          <p:cNvPr id="24" name="Text 5"/>
          <p:cNvSpPr/>
          <p:nvPr/>
        </p:nvSpPr>
        <p:spPr>
          <a:xfrm>
            <a:off x="467544" y="3138522"/>
            <a:ext cx="8424936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r>
              <a:rPr lang="pt-BR" sz="1200" b="1" dirty="0" err="1" smtClean="0">
                <a:solidFill>
                  <a:schemeClr val="bg1">
                    <a:lumMod val="75000"/>
                  </a:schemeClr>
                </a:solidFill>
              </a:rPr>
              <a:t>Identity</a:t>
            </a:r>
            <a:r>
              <a:rPr lang="pt-BR" sz="1200" b="1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pt-BR" sz="1200" b="1" dirty="0" err="1" smtClean="0">
                <a:solidFill>
                  <a:schemeClr val="bg1">
                    <a:lumMod val="75000"/>
                  </a:schemeClr>
                </a:solidFill>
              </a:rPr>
              <a:t>Theft</a:t>
            </a:r>
            <a:r>
              <a:rPr lang="pt-BR" sz="1200" b="1" dirty="0" smtClean="0">
                <a:solidFill>
                  <a:schemeClr val="bg1">
                    <a:lumMod val="75000"/>
                  </a:schemeClr>
                </a:solidFill>
              </a:rPr>
              <a:t> :</a:t>
            </a:r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</a:rPr>
              <a:t> Este é o maior tema. Clientes estão desesperados porque há contas ou consultas em seus nomes que eles não reconhecem.</a:t>
            </a:r>
            <a:endParaRPr lang="pt-BR" sz="1200" dirty="0">
              <a:solidFill>
                <a:schemeClr val="bg1">
                  <a:lumMod val="75000"/>
                </a:schemeClr>
              </a:solidFill>
              <a:latin typeface="Noto Sans"/>
            </a:endParaRPr>
          </a:p>
        </p:txBody>
      </p:sp>
      <p:sp>
        <p:nvSpPr>
          <p:cNvPr id="25" name="Retângulo 24"/>
          <p:cNvSpPr/>
          <p:nvPr/>
        </p:nvSpPr>
        <p:spPr>
          <a:xfrm>
            <a:off x="395536" y="3590895"/>
            <a:ext cx="83529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b="1" dirty="0" err="1" smtClean="0">
                <a:solidFill>
                  <a:schemeClr val="bg1">
                    <a:lumMod val="75000"/>
                  </a:schemeClr>
                </a:solidFill>
              </a:rPr>
              <a:t>Hard</a:t>
            </a:r>
            <a:r>
              <a:rPr lang="pt-BR" sz="1200" b="1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pt-BR" sz="1200" b="1" dirty="0" err="1" smtClean="0">
                <a:solidFill>
                  <a:schemeClr val="bg1">
                    <a:lumMod val="75000"/>
                  </a:schemeClr>
                </a:solidFill>
              </a:rPr>
              <a:t>Inquiry</a:t>
            </a:r>
            <a:r>
              <a:rPr lang="pt-BR" sz="1200" b="1" dirty="0" smtClean="0">
                <a:solidFill>
                  <a:schemeClr val="bg1">
                    <a:lumMod val="75000"/>
                  </a:schemeClr>
                </a:solidFill>
              </a:rPr>
              <a:t>:</a:t>
            </a:r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</a:rPr>
              <a:t> Reclamações sobre consultas de crédito que baixam o </a:t>
            </a:r>
            <a:r>
              <a:rPr lang="pt-BR" sz="1200" i="1" dirty="0" err="1" smtClean="0">
                <a:solidFill>
                  <a:schemeClr val="bg1">
                    <a:lumMod val="75000"/>
                  </a:schemeClr>
                </a:solidFill>
              </a:rPr>
              <a:t>score</a:t>
            </a:r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</a:rPr>
              <a:t> do cliente sem autorização</a:t>
            </a:r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</a:rPr>
              <a:t>.</a:t>
            </a:r>
            <a:endParaRPr lang="pt-BR" sz="1200" dirty="0">
              <a:solidFill>
                <a:schemeClr val="bg1">
                  <a:lumMod val="75000"/>
                </a:schemeClr>
              </a:solidFill>
              <a:latin typeface="Noto Sans"/>
            </a:endParaRPr>
          </a:p>
        </p:txBody>
      </p:sp>
      <p:sp>
        <p:nvSpPr>
          <p:cNvPr id="26" name="Retângulo 25"/>
          <p:cNvSpPr/>
          <p:nvPr/>
        </p:nvSpPr>
        <p:spPr>
          <a:xfrm>
            <a:off x="395536" y="3950935"/>
            <a:ext cx="83529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b="1" dirty="0" err="1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Inaccurate</a:t>
            </a:r>
            <a:r>
              <a:rPr lang="pt-BR" sz="1200" b="1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 </a:t>
            </a:r>
            <a:r>
              <a:rPr lang="pt-BR" sz="1200" b="1" dirty="0" err="1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Information</a:t>
            </a:r>
            <a:r>
              <a:rPr lang="pt-BR" sz="1200" b="1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:</a:t>
            </a:r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 O modelo detectou que o "negativo" aqui não é apenas raiva, é uma contestação de fatos errados no relatório.</a:t>
            </a:r>
            <a:endParaRPr lang="pt-BR" sz="1200" dirty="0">
              <a:solidFill>
                <a:schemeClr val="bg1">
                  <a:lumMod val="75000"/>
                </a:schemeClr>
              </a:solidFill>
              <a:latin typeface="Noto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upo 3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2" name="Retângulo 31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4" name="Conector reto 33"/>
            <p:cNvCxnSpPr/>
            <p:nvPr/>
          </p:nvCxnSpPr>
          <p:spPr>
            <a:xfrm>
              <a:off x="204912" y="4655666"/>
              <a:ext cx="864096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6" name="Text 21"/>
          <p:cNvSpPr/>
          <p:nvPr/>
        </p:nvSpPr>
        <p:spPr>
          <a:xfrm>
            <a:off x="8804160" y="4781705"/>
            <a:ext cx="115160" cy="1231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1" strike="noStrike" spc="-1" dirty="0">
                <a:solidFill>
                  <a:srgbClr val="FF0066"/>
                </a:solidFill>
                <a:latin typeface="Noto Sans"/>
                <a:ea typeface="Noto Sans"/>
              </a:rPr>
              <a:t>05</a:t>
            </a:r>
            <a:endParaRPr lang="pt-BR" sz="800" b="0" strike="noStrike" spc="-1" dirty="0">
              <a:solidFill>
                <a:srgbClr val="FF0066"/>
              </a:solidFill>
              <a:latin typeface="Arial"/>
            </a:endParaRPr>
          </a:p>
        </p:txBody>
      </p:sp>
      <p:sp>
        <p:nvSpPr>
          <p:cNvPr id="20" name="Text 0"/>
          <p:cNvSpPr/>
          <p:nvPr/>
        </p:nvSpPr>
        <p:spPr>
          <a:xfrm>
            <a:off x="4276142" y="51470"/>
            <a:ext cx="590996" cy="3108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20" b="1" strike="noStrike" spc="-1" dirty="0">
                <a:solidFill>
                  <a:srgbClr val="FF0066"/>
                </a:solidFill>
                <a:latin typeface="Noto Sans"/>
                <a:ea typeface="Noto Sans"/>
              </a:rPr>
              <a:t>FIAP</a:t>
            </a:r>
            <a:endParaRPr lang="pt-BR" sz="2020" b="0" strike="noStrike" spc="-1" dirty="0">
              <a:solidFill>
                <a:srgbClr val="FF0066"/>
              </a:solidFill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3610772" y="434154"/>
            <a:ext cx="1921745" cy="1445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39" b="0" strike="noStrike" spc="-1" dirty="0">
                <a:solidFill>
                  <a:srgbClr val="9CA3AF"/>
                </a:solidFill>
                <a:latin typeface="Noto Sans"/>
                <a:ea typeface="Noto Sans"/>
              </a:rPr>
              <a:t>POSTECH </a:t>
            </a:r>
            <a:r>
              <a:rPr lang="en-US" sz="939" b="0" strike="noStrike" spc="-1" dirty="0" smtClean="0">
                <a:solidFill>
                  <a:srgbClr val="9CA3AF"/>
                </a:solidFill>
                <a:latin typeface="Noto Sans"/>
                <a:ea typeface="Noto Sans"/>
              </a:rPr>
              <a:t>– </a:t>
            </a:r>
            <a:r>
              <a:rPr lang="en-US" sz="939" spc="-1" dirty="0" smtClean="0">
                <a:solidFill>
                  <a:srgbClr val="9CA3AF"/>
                </a:solidFill>
                <a:latin typeface="Noto Sans"/>
                <a:ea typeface="Noto Sans"/>
              </a:rPr>
              <a:t>DATATHON – FASE 5</a:t>
            </a:r>
            <a:endParaRPr lang="pt-BR" sz="939" b="0" strike="noStrike" spc="-1" dirty="0">
              <a:latin typeface="Arial"/>
            </a:endParaRPr>
          </a:p>
        </p:txBody>
      </p: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696" y="699542"/>
            <a:ext cx="5368410" cy="1726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" name="Text 5"/>
          <p:cNvSpPr/>
          <p:nvPr/>
        </p:nvSpPr>
        <p:spPr>
          <a:xfrm>
            <a:off x="1259632" y="2571750"/>
            <a:ext cx="6562694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r>
              <a:rPr lang="pt-BR" sz="1400" dirty="0" smtClean="0">
                <a:solidFill>
                  <a:srgbClr val="FF0066"/>
                </a:solidFill>
              </a:rPr>
              <a:t>Aqui o cenário muda completamente, o que prova que o</a:t>
            </a:r>
            <a:r>
              <a:rPr lang="pt-BR" sz="1400" dirty="0" smtClean="0">
                <a:solidFill>
                  <a:srgbClr val="FF0066"/>
                </a:solidFill>
              </a:rPr>
              <a:t> </a:t>
            </a:r>
            <a:r>
              <a:rPr lang="pt-BR" sz="1400" dirty="0" smtClean="0">
                <a:solidFill>
                  <a:srgbClr val="FF0066"/>
                </a:solidFill>
              </a:rPr>
              <a:t>modelo entende contexto:</a:t>
            </a:r>
            <a:endParaRPr lang="pt-BR" sz="1400" dirty="0">
              <a:solidFill>
                <a:srgbClr val="FF0066"/>
              </a:solidFill>
              <a:latin typeface="Noto Sans"/>
            </a:endParaRPr>
          </a:p>
        </p:txBody>
      </p:sp>
      <p:sp>
        <p:nvSpPr>
          <p:cNvPr id="24" name="Text 5"/>
          <p:cNvSpPr/>
          <p:nvPr/>
        </p:nvSpPr>
        <p:spPr>
          <a:xfrm>
            <a:off x="467544" y="3024122"/>
            <a:ext cx="8424936" cy="1846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r>
              <a:rPr lang="pt-BR" sz="1200" b="1" dirty="0" err="1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Company</a:t>
            </a:r>
            <a:r>
              <a:rPr lang="pt-BR" sz="1200" b="1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 / </a:t>
            </a:r>
            <a:r>
              <a:rPr lang="pt-BR" sz="1200" b="1" dirty="0" err="1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Debt</a:t>
            </a:r>
            <a:r>
              <a:rPr lang="pt-BR" sz="1200" b="1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 </a:t>
            </a:r>
            <a:r>
              <a:rPr lang="pt-BR" sz="1200" b="1" dirty="0" err="1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Collector</a:t>
            </a:r>
            <a:r>
              <a:rPr lang="pt-BR" sz="1200" b="1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:</a:t>
            </a:r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 O foco aqui é a </a:t>
            </a:r>
            <a:r>
              <a:rPr lang="pt-BR" sz="1200" b="1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figura do cobrador</a:t>
            </a:r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.</a:t>
            </a:r>
            <a:endParaRPr lang="pt-BR" sz="1200" dirty="0">
              <a:solidFill>
                <a:schemeClr val="bg1">
                  <a:lumMod val="75000"/>
                </a:schemeClr>
              </a:solidFill>
              <a:latin typeface="Noto Sans"/>
            </a:endParaRPr>
          </a:p>
        </p:txBody>
      </p:sp>
      <p:sp>
        <p:nvSpPr>
          <p:cNvPr id="25" name="Text 5"/>
          <p:cNvSpPr/>
          <p:nvPr/>
        </p:nvSpPr>
        <p:spPr>
          <a:xfrm>
            <a:off x="467544" y="3354546"/>
            <a:ext cx="8424936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r>
              <a:rPr lang="pt-BR" sz="1200" b="1" dirty="0" err="1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Told</a:t>
            </a:r>
            <a:r>
              <a:rPr lang="pt-BR" sz="1200" b="1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 / Said / </a:t>
            </a:r>
            <a:r>
              <a:rPr lang="pt-BR" sz="1200" b="1" dirty="0" err="1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Called</a:t>
            </a:r>
            <a:r>
              <a:rPr lang="pt-BR" sz="1200" b="1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:</a:t>
            </a:r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 Note como essas palavras são fortes aqui. Isso indica que a insatisfação é sobre </a:t>
            </a:r>
            <a:r>
              <a:rPr lang="pt-BR" sz="1200" b="1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o que foi dito ao telefone</a:t>
            </a:r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.</a:t>
            </a:r>
            <a:endParaRPr lang="pt-BR" sz="1200" dirty="0">
              <a:solidFill>
                <a:schemeClr val="bg1">
                  <a:lumMod val="75000"/>
                </a:schemeClr>
              </a:solidFill>
              <a:latin typeface="Noto Sans"/>
            </a:endParaRPr>
          </a:p>
        </p:txBody>
      </p:sp>
      <p:sp>
        <p:nvSpPr>
          <p:cNvPr id="26" name="Text 5"/>
          <p:cNvSpPr/>
          <p:nvPr/>
        </p:nvSpPr>
        <p:spPr>
          <a:xfrm>
            <a:off x="467544" y="3878927"/>
            <a:ext cx="8424936" cy="1846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r>
              <a:rPr lang="pt-BR" sz="1200" b="1" dirty="0" err="1" smtClean="0">
                <a:solidFill>
                  <a:schemeClr val="bg1">
                    <a:lumMod val="75000"/>
                  </a:schemeClr>
                </a:solidFill>
              </a:rPr>
              <a:t>Alleged</a:t>
            </a:r>
            <a:r>
              <a:rPr lang="pt-BR" sz="1200" b="1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pt-BR" sz="1200" b="1" dirty="0" err="1" smtClean="0">
                <a:solidFill>
                  <a:schemeClr val="bg1">
                    <a:lumMod val="75000"/>
                  </a:schemeClr>
                </a:solidFill>
              </a:rPr>
              <a:t>Debt</a:t>
            </a:r>
            <a:r>
              <a:rPr lang="pt-BR" sz="1200" b="1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pt-BR" sz="1200" b="1" dirty="0" smtClean="0">
                <a:solidFill>
                  <a:schemeClr val="bg1">
                    <a:lumMod val="75000"/>
                  </a:schemeClr>
                </a:solidFill>
              </a:rPr>
              <a:t>:</a:t>
            </a:r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</a:rPr>
              <a:t>O cliente reclama que a dívida está sendo cobrada indevidamente ou que já foi paga.</a:t>
            </a:r>
            <a:endParaRPr lang="pt-BR" sz="12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o 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4" name="Retângulo 2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6" name="Conector reto 25"/>
            <p:cNvCxnSpPr/>
            <p:nvPr/>
          </p:nvCxnSpPr>
          <p:spPr>
            <a:xfrm>
              <a:off x="204912" y="4655666"/>
              <a:ext cx="864096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8" name="Text 18"/>
          <p:cNvSpPr/>
          <p:nvPr/>
        </p:nvSpPr>
        <p:spPr>
          <a:xfrm>
            <a:off x="8804160" y="4781705"/>
            <a:ext cx="115160" cy="1231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1" strike="noStrike" spc="-1" dirty="0">
                <a:solidFill>
                  <a:srgbClr val="FF0066"/>
                </a:solidFill>
                <a:latin typeface="Noto Sans"/>
                <a:ea typeface="Noto Sans"/>
              </a:rPr>
              <a:t>06</a:t>
            </a:r>
            <a:endParaRPr lang="pt-BR" sz="800" b="0" strike="noStrike" spc="-1" dirty="0">
              <a:solidFill>
                <a:srgbClr val="FF0066"/>
              </a:solidFill>
              <a:latin typeface="Arial"/>
            </a:endParaRPr>
          </a:p>
        </p:txBody>
      </p:sp>
      <p:sp>
        <p:nvSpPr>
          <p:cNvPr id="15" name="Text 0"/>
          <p:cNvSpPr/>
          <p:nvPr/>
        </p:nvSpPr>
        <p:spPr>
          <a:xfrm>
            <a:off x="4276142" y="51470"/>
            <a:ext cx="590996" cy="3108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20" b="1" strike="noStrike" spc="-1" dirty="0">
                <a:solidFill>
                  <a:srgbClr val="FF0066"/>
                </a:solidFill>
                <a:latin typeface="Noto Sans"/>
                <a:ea typeface="Noto Sans"/>
              </a:rPr>
              <a:t>FIAP</a:t>
            </a:r>
            <a:endParaRPr lang="pt-BR" sz="2020" b="0" strike="noStrike" spc="-1" dirty="0">
              <a:solidFill>
                <a:srgbClr val="FF0066"/>
              </a:solidFill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3610772" y="434154"/>
            <a:ext cx="1921745" cy="1445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39" b="0" strike="noStrike" spc="-1" dirty="0">
                <a:solidFill>
                  <a:srgbClr val="9CA3AF"/>
                </a:solidFill>
                <a:latin typeface="Noto Sans"/>
                <a:ea typeface="Noto Sans"/>
              </a:rPr>
              <a:t>POSTECH </a:t>
            </a:r>
            <a:r>
              <a:rPr lang="en-US" sz="939" b="0" strike="noStrike" spc="-1" dirty="0" smtClean="0">
                <a:solidFill>
                  <a:srgbClr val="9CA3AF"/>
                </a:solidFill>
                <a:latin typeface="Noto Sans"/>
                <a:ea typeface="Noto Sans"/>
              </a:rPr>
              <a:t>– </a:t>
            </a:r>
            <a:r>
              <a:rPr lang="en-US" sz="939" spc="-1" dirty="0" smtClean="0">
                <a:solidFill>
                  <a:srgbClr val="9CA3AF"/>
                </a:solidFill>
                <a:latin typeface="Noto Sans"/>
                <a:ea typeface="Noto Sans"/>
              </a:rPr>
              <a:t>DATATHON – FASE 5</a:t>
            </a:r>
            <a:endParaRPr lang="pt-BR" sz="939" b="0" strike="noStrike" spc="-1" dirty="0"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361171" y="771550"/>
            <a:ext cx="8603317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r>
              <a:rPr lang="pt-BR" sz="1400" dirty="0" smtClean="0">
                <a:solidFill>
                  <a:srgbClr val="FF0066"/>
                </a:solidFill>
              </a:rPr>
              <a:t>Em todos os produtos, termos como </a:t>
            </a:r>
            <a:r>
              <a:rPr lang="pt-BR" sz="1400" b="1" dirty="0" smtClean="0">
                <a:solidFill>
                  <a:srgbClr val="FF0066"/>
                </a:solidFill>
              </a:rPr>
              <a:t>"</a:t>
            </a:r>
            <a:r>
              <a:rPr lang="pt-BR" sz="1400" b="1" dirty="0" err="1" smtClean="0">
                <a:solidFill>
                  <a:srgbClr val="FF0066"/>
                </a:solidFill>
              </a:rPr>
              <a:t>Account</a:t>
            </a:r>
            <a:r>
              <a:rPr lang="pt-BR" sz="1400" b="1" dirty="0" smtClean="0">
                <a:solidFill>
                  <a:srgbClr val="FF0066"/>
                </a:solidFill>
              </a:rPr>
              <a:t>"</a:t>
            </a:r>
            <a:r>
              <a:rPr lang="pt-BR" sz="1400" dirty="0" smtClean="0">
                <a:solidFill>
                  <a:srgbClr val="FF0066"/>
                </a:solidFill>
              </a:rPr>
              <a:t>, </a:t>
            </a:r>
            <a:r>
              <a:rPr lang="pt-BR" sz="1400" b="1" dirty="0" smtClean="0">
                <a:solidFill>
                  <a:srgbClr val="FF0066"/>
                </a:solidFill>
              </a:rPr>
              <a:t>"Dispute"</a:t>
            </a:r>
            <a:r>
              <a:rPr lang="pt-BR" sz="1400" dirty="0" smtClean="0">
                <a:solidFill>
                  <a:srgbClr val="FF0066"/>
                </a:solidFill>
              </a:rPr>
              <a:t> e </a:t>
            </a:r>
            <a:r>
              <a:rPr lang="pt-BR" sz="1400" b="1" dirty="0" smtClean="0">
                <a:solidFill>
                  <a:srgbClr val="FF0066"/>
                </a:solidFill>
              </a:rPr>
              <a:t>"</a:t>
            </a:r>
            <a:r>
              <a:rPr lang="pt-BR" sz="1400" b="1" dirty="0" err="1" smtClean="0">
                <a:solidFill>
                  <a:srgbClr val="FF0066"/>
                </a:solidFill>
              </a:rPr>
              <a:t>Never</a:t>
            </a:r>
            <a:r>
              <a:rPr lang="pt-BR" sz="1400" b="1" dirty="0" smtClean="0">
                <a:solidFill>
                  <a:srgbClr val="FF0066"/>
                </a:solidFill>
              </a:rPr>
              <a:t> </a:t>
            </a:r>
            <a:r>
              <a:rPr lang="pt-BR" sz="1400" b="1" dirty="0" err="1" smtClean="0">
                <a:solidFill>
                  <a:srgbClr val="FF0066"/>
                </a:solidFill>
              </a:rPr>
              <a:t>Received</a:t>
            </a:r>
            <a:r>
              <a:rPr lang="pt-BR" sz="1400" b="1" dirty="0" smtClean="0">
                <a:solidFill>
                  <a:srgbClr val="FF0066"/>
                </a:solidFill>
              </a:rPr>
              <a:t>"</a:t>
            </a:r>
            <a:r>
              <a:rPr lang="pt-BR" sz="1400" dirty="0" smtClean="0">
                <a:solidFill>
                  <a:srgbClr val="FF0066"/>
                </a:solidFill>
              </a:rPr>
              <a:t> aparecem com frequência.</a:t>
            </a:r>
            <a:endParaRPr lang="pt-BR" sz="1400" dirty="0">
              <a:solidFill>
                <a:srgbClr val="FF0066"/>
              </a:solidFill>
              <a:latin typeface="Noto Sans"/>
            </a:endParaRPr>
          </a:p>
        </p:txBody>
      </p:sp>
      <p:sp>
        <p:nvSpPr>
          <p:cNvPr id="18" name="Text 5"/>
          <p:cNvSpPr/>
          <p:nvPr/>
        </p:nvSpPr>
        <p:spPr>
          <a:xfrm>
            <a:off x="395536" y="1131590"/>
            <a:ext cx="8424936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Isso aponta para uma falha no </a:t>
            </a:r>
            <a:r>
              <a:rPr lang="pt-BR" sz="1200" b="1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fluxo de resolução</a:t>
            </a:r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. O cliente entra em contato para disputar uma transação ou solicitar um estorno, mas a percepção é de um "vácuo" de resposta, onde a solução nunca chega.</a:t>
            </a:r>
            <a:endParaRPr lang="pt-BR" sz="1200" dirty="0">
              <a:solidFill>
                <a:schemeClr val="bg1">
                  <a:lumMod val="75000"/>
                </a:schemeClr>
              </a:solidFill>
              <a:latin typeface="Noto Sans"/>
            </a:endParaRPr>
          </a:p>
        </p:txBody>
      </p:sp>
      <p:graphicFrame>
        <p:nvGraphicFramePr>
          <p:cNvPr id="19" name="Tabela 18"/>
          <p:cNvGraphicFramePr>
            <a:graphicFrameLocks noGrp="1"/>
          </p:cNvGraphicFramePr>
          <p:nvPr/>
        </p:nvGraphicFramePr>
        <p:xfrm>
          <a:off x="875927" y="2165694"/>
          <a:ext cx="7224465" cy="1558184"/>
        </p:xfrm>
        <a:graphic>
          <a:graphicData uri="http://schemas.openxmlformats.org/drawingml/2006/table">
            <a:tbl>
              <a:tblPr/>
              <a:tblGrid>
                <a:gridCol w="2408155"/>
                <a:gridCol w="2408155"/>
                <a:gridCol w="2408155"/>
              </a:tblGrid>
              <a:tr h="273435">
                <a:tc>
                  <a:txBody>
                    <a:bodyPr/>
                    <a:lstStyle/>
                    <a:p>
                      <a:r>
                        <a:rPr lang="pt-BR" sz="1200" b="1" dirty="0">
                          <a:solidFill>
                            <a:srgbClr val="FF0066"/>
                          </a:solidFill>
                          <a:latin typeface="Google Sans Text"/>
                        </a:rPr>
                        <a:t>Tema de Insatisfação</a:t>
                      </a:r>
                      <a:endParaRPr lang="pt-BR" sz="1200" dirty="0">
                        <a:solidFill>
                          <a:srgbClr val="FF0066"/>
                        </a:solidFill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1" dirty="0" err="1">
                          <a:solidFill>
                            <a:srgbClr val="FF0066"/>
                          </a:solidFill>
                          <a:latin typeface="Google Sans Text"/>
                        </a:rPr>
                        <a:t>Termos-Chave</a:t>
                      </a:r>
                      <a:r>
                        <a:rPr lang="pt-BR" sz="1200" b="1" dirty="0">
                          <a:solidFill>
                            <a:srgbClr val="FF0066"/>
                          </a:solidFill>
                          <a:latin typeface="Google Sans Text"/>
                        </a:rPr>
                        <a:t> (Evidência)</a:t>
                      </a:r>
                      <a:endParaRPr lang="pt-BR" sz="1200" dirty="0">
                        <a:solidFill>
                          <a:srgbClr val="FF0066"/>
                        </a:solidFill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1" dirty="0">
                          <a:solidFill>
                            <a:srgbClr val="FF0066"/>
                          </a:solidFill>
                          <a:latin typeface="Google Sans Text"/>
                        </a:rPr>
                        <a:t>Impacto no Cliente</a:t>
                      </a:r>
                      <a:endParaRPr lang="pt-BR" sz="1200" dirty="0">
                        <a:solidFill>
                          <a:srgbClr val="FF0066"/>
                        </a:solidFill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435">
                <a:tc>
                  <a:txBody>
                    <a:bodyPr/>
                    <a:lstStyle/>
                    <a:p>
                      <a:r>
                        <a:rPr lang="pt-BR" sz="1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Google Sans Text"/>
                        </a:rPr>
                        <a:t>Roubo de Identidade</a:t>
                      </a:r>
                      <a:endParaRPr lang="pt-BR" sz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Google Sans Text"/>
                        </a:rPr>
                        <a:t>Identity theft, fraudulent, victim</a:t>
                      </a:r>
                      <a:endParaRPr lang="pt-BR" sz="1200">
                        <a:solidFill>
                          <a:schemeClr val="bg1">
                            <a:lumMod val="75000"/>
                          </a:schemeClr>
                        </a:solidFill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solidFill>
                            <a:schemeClr val="bg1">
                              <a:lumMod val="75000"/>
                            </a:schemeClr>
                          </a:solidFill>
                          <a:latin typeface="Google Sans Text"/>
                        </a:rPr>
                        <a:t>Insegurança e perda de crédito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435">
                <a:tc>
                  <a:txBody>
                    <a:bodyPr/>
                    <a:lstStyle/>
                    <a:p>
                      <a:r>
                        <a:rPr lang="pt-BR" sz="1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Google Sans Text"/>
                        </a:rPr>
                        <a:t>Cobrança Indevida</a:t>
                      </a:r>
                      <a:endParaRPr lang="pt-BR" sz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Google Sans Text"/>
                        </a:rPr>
                        <a:t>Late fee, interest, unauthorized</a:t>
                      </a:r>
                      <a:endParaRPr lang="pt-BR" sz="1200">
                        <a:solidFill>
                          <a:schemeClr val="bg1">
                            <a:lumMod val="75000"/>
                          </a:schemeClr>
                        </a:solidFill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solidFill>
                            <a:schemeClr val="bg1">
                              <a:lumMod val="75000"/>
                            </a:schemeClr>
                          </a:solidFill>
                          <a:latin typeface="Google Sans Text"/>
                        </a:rPr>
                        <a:t>Perda financeira direta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945">
                <a:tc>
                  <a:txBody>
                    <a:bodyPr/>
                    <a:lstStyle/>
                    <a:p>
                      <a:r>
                        <a:rPr lang="pt-BR" sz="1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Google Sans Text"/>
                        </a:rPr>
                        <a:t>Falha de Comunicação</a:t>
                      </a:r>
                      <a:endParaRPr lang="pt-BR" sz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Google Sans Text"/>
                        </a:rPr>
                        <a:t>Called, told, no response, wait</a:t>
                      </a:r>
                      <a:endParaRPr lang="en-US" sz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200">
                          <a:solidFill>
                            <a:schemeClr val="bg1">
                              <a:lumMod val="75000"/>
                            </a:schemeClr>
                          </a:solidFill>
                          <a:latin typeface="Google Sans Text"/>
                        </a:rPr>
                        <a:t>Frustração com o suporte (Churn)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8024">
                <a:tc>
                  <a:txBody>
                    <a:bodyPr/>
                    <a:lstStyle/>
                    <a:p>
                      <a:r>
                        <a:rPr lang="pt-BR" sz="12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Google Sans Text"/>
                        </a:rPr>
                        <a:t>Erros de Cadastro</a:t>
                      </a:r>
                      <a:endParaRPr lang="pt-BR" sz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i="1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Google Sans Text"/>
                        </a:rPr>
                        <a:t>Inaccurate</a:t>
                      </a:r>
                      <a:r>
                        <a:rPr lang="pt-BR" sz="1200" i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Google Sans Text"/>
                        </a:rPr>
                        <a:t>, </a:t>
                      </a:r>
                      <a:r>
                        <a:rPr lang="pt-BR" sz="1200" i="1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Google Sans Text"/>
                        </a:rPr>
                        <a:t>wrong</a:t>
                      </a:r>
                      <a:r>
                        <a:rPr lang="pt-BR" sz="1200" i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Google Sans Text"/>
                        </a:rPr>
                        <a:t> </a:t>
                      </a:r>
                      <a:r>
                        <a:rPr lang="pt-BR" sz="1200" i="1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Google Sans Text"/>
                        </a:rPr>
                        <a:t>information</a:t>
                      </a:r>
                      <a:endParaRPr lang="pt-BR" sz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Google Sans Text"/>
                        </a:rPr>
                        <a:t>Impedimento de novos produtos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121" name="Rectangle 1"/>
          <p:cNvSpPr>
            <a:spLocks noChangeArrowheads="1"/>
          </p:cNvSpPr>
          <p:nvPr/>
        </p:nvSpPr>
        <p:spPr bwMode="auto">
          <a:xfrm>
            <a:off x="306215" y="1692846"/>
            <a:ext cx="3617713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500" b="1" i="0" u="none" strike="noStrike" cap="none" normalizeH="0" baseline="0" dirty="0" smtClean="0">
                <a:ln>
                  <a:noFill/>
                </a:ln>
                <a:solidFill>
                  <a:srgbClr val="FF0066"/>
                </a:solidFill>
                <a:effectLst/>
                <a:latin typeface="Noto Sans"/>
                <a:cs typeface="Arial" pitchFamily="34" charset="0"/>
              </a:rPr>
              <a:t>Tabela de Evidências</a:t>
            </a:r>
            <a:endParaRPr kumimoji="0" lang="pt-BR" sz="1800" b="0" i="0" u="none" strike="noStrike" cap="none" normalizeH="0" baseline="0" dirty="0" smtClean="0">
              <a:ln>
                <a:noFill/>
              </a:ln>
              <a:solidFill>
                <a:srgbClr val="FF0066"/>
              </a:solidFill>
              <a:effectLst/>
              <a:latin typeface="Noto Sans"/>
              <a:cs typeface="Arial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3" name="Retângulo 2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5" name="Conector reto 24"/>
            <p:cNvCxnSpPr/>
            <p:nvPr/>
          </p:nvCxnSpPr>
          <p:spPr>
            <a:xfrm>
              <a:off x="204912" y="4655666"/>
              <a:ext cx="864096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9" name="Text 0"/>
          <p:cNvSpPr/>
          <p:nvPr/>
        </p:nvSpPr>
        <p:spPr>
          <a:xfrm>
            <a:off x="3497754" y="915566"/>
            <a:ext cx="2154366" cy="3108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6992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dirty="0" smtClean="0">
                <a:solidFill>
                  <a:srgbClr val="FF0066"/>
                </a:solidFill>
              </a:rPr>
              <a:t>Conclusão Geral</a:t>
            </a:r>
            <a:r>
              <a:rPr lang="en-US" sz="2020" b="1" strike="noStrike" spc="-1" dirty="0" smtClean="0">
                <a:solidFill>
                  <a:srgbClr val="FF0066"/>
                </a:solidFill>
                <a:latin typeface="Noto Sans"/>
                <a:ea typeface="Noto Sans"/>
              </a:rPr>
              <a:t> </a:t>
            </a:r>
            <a:endParaRPr lang="pt-BR" sz="2020" b="0" strike="noStrike" spc="-1" dirty="0">
              <a:solidFill>
                <a:srgbClr val="FF0066"/>
              </a:solidFill>
              <a:latin typeface="Arial"/>
            </a:endParaRPr>
          </a:p>
        </p:txBody>
      </p:sp>
      <p:sp>
        <p:nvSpPr>
          <p:cNvPr id="337" name="Text 13"/>
          <p:cNvSpPr/>
          <p:nvPr/>
        </p:nvSpPr>
        <p:spPr>
          <a:xfrm>
            <a:off x="8820472" y="4781705"/>
            <a:ext cx="115160" cy="1231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1" spc="-1" dirty="0" smtClean="0">
                <a:solidFill>
                  <a:srgbClr val="FF0066"/>
                </a:solidFill>
                <a:latin typeface="Noto Sans"/>
              </a:rPr>
              <a:t>08</a:t>
            </a:r>
            <a:endParaRPr lang="pt-BR" sz="800" b="0" strike="noStrike" spc="-1" dirty="0">
              <a:solidFill>
                <a:srgbClr val="FF0066"/>
              </a:solidFill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323528" y="1591801"/>
            <a:ext cx="7920880" cy="10772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just"/>
            <a:r>
              <a:rPr lang="pt-BR" sz="1400" dirty="0" smtClean="0">
                <a:solidFill>
                  <a:schemeClr val="bg1">
                    <a:lumMod val="75000"/>
                  </a:schemeClr>
                </a:solidFill>
              </a:rPr>
              <a:t>Ao </a:t>
            </a:r>
            <a:r>
              <a:rPr lang="pt-BR" sz="1400" dirty="0" smtClean="0">
                <a:solidFill>
                  <a:schemeClr val="bg1">
                    <a:lumMod val="75000"/>
                  </a:schemeClr>
                </a:solidFill>
              </a:rPr>
              <a:t>analisarmos os termos mais comuns das predições negativas, percebemos que a insatisfação é </a:t>
            </a:r>
            <a:r>
              <a:rPr lang="pt-BR" sz="1400" b="1" dirty="0" smtClean="0">
                <a:solidFill>
                  <a:schemeClr val="bg1">
                    <a:lumMod val="75000"/>
                  </a:schemeClr>
                </a:solidFill>
              </a:rPr>
              <a:t>específica por produto</a:t>
            </a:r>
            <a:r>
              <a:rPr lang="pt-BR" sz="1400" dirty="0" smtClean="0">
                <a:solidFill>
                  <a:schemeClr val="bg1">
                    <a:lumMod val="75000"/>
                  </a:schemeClr>
                </a:solidFill>
              </a:rPr>
              <a:t>. Enquanto no setor de crédito o problema é a </a:t>
            </a:r>
            <a:r>
              <a:rPr lang="pt-BR" sz="1400" b="1" dirty="0" smtClean="0">
                <a:solidFill>
                  <a:schemeClr val="bg1">
                    <a:lumMod val="75000"/>
                  </a:schemeClr>
                </a:solidFill>
              </a:rPr>
              <a:t>precisão dos dados</a:t>
            </a:r>
            <a:r>
              <a:rPr lang="pt-BR" sz="1400" dirty="0" smtClean="0">
                <a:solidFill>
                  <a:schemeClr val="bg1">
                    <a:lumMod val="75000"/>
                  </a:schemeClr>
                </a:solidFill>
              </a:rPr>
              <a:t>, no setor de cobrança o problema é a </a:t>
            </a:r>
            <a:r>
              <a:rPr lang="pt-BR" sz="1400" b="1" dirty="0" smtClean="0">
                <a:solidFill>
                  <a:schemeClr val="bg1">
                    <a:lumMod val="75000"/>
                  </a:schemeClr>
                </a:solidFill>
              </a:rPr>
              <a:t>abordagem dos agentes</a:t>
            </a:r>
            <a:r>
              <a:rPr lang="pt-BR" sz="1400" dirty="0" smtClean="0">
                <a:solidFill>
                  <a:schemeClr val="bg1">
                    <a:lumMod val="75000"/>
                  </a:schemeClr>
                </a:solidFill>
              </a:rPr>
              <a:t>. Nosso modelo de Deep Learning foi capaz de separar esses contextos, o que permite que o banco crie planos de ação distintos: um focado em segurança de dados e outro em treinamento de atendimento.</a:t>
            </a:r>
            <a:endParaRPr lang="pt-BR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Text 2"/>
          <p:cNvSpPr/>
          <p:nvPr/>
        </p:nvSpPr>
        <p:spPr>
          <a:xfrm>
            <a:off x="323528" y="3004378"/>
            <a:ext cx="8136904" cy="215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just"/>
            <a:r>
              <a:rPr lang="pt-BR" sz="14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Tratar todos os negativos da mesma forma seria um erro estratégico que nosso modelo ajuda a evitar.</a:t>
            </a:r>
            <a:endParaRPr lang="pt-BR" sz="1400" dirty="0">
              <a:solidFill>
                <a:schemeClr val="bg1">
                  <a:lumMod val="75000"/>
                </a:schemeClr>
              </a:solidFill>
              <a:latin typeface="Noto Sans"/>
            </a:endParaRPr>
          </a:p>
        </p:txBody>
      </p:sp>
      <p:sp>
        <p:nvSpPr>
          <p:cNvPr id="13" name="Text 0"/>
          <p:cNvSpPr/>
          <p:nvPr/>
        </p:nvSpPr>
        <p:spPr>
          <a:xfrm>
            <a:off x="4276142" y="51470"/>
            <a:ext cx="590996" cy="3108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20" b="1" strike="noStrike" spc="-1" dirty="0">
                <a:solidFill>
                  <a:srgbClr val="FF0066"/>
                </a:solidFill>
                <a:latin typeface="Noto Sans"/>
                <a:ea typeface="Noto Sans"/>
              </a:rPr>
              <a:t>FIAP</a:t>
            </a:r>
            <a:endParaRPr lang="pt-BR" sz="2020" b="0" strike="noStrike" spc="-1" dirty="0">
              <a:solidFill>
                <a:srgbClr val="FF0066"/>
              </a:solidFill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3610772" y="434154"/>
            <a:ext cx="1921745" cy="1445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39" b="0" strike="noStrike" spc="-1" dirty="0">
                <a:solidFill>
                  <a:srgbClr val="9CA3AF"/>
                </a:solidFill>
                <a:latin typeface="Noto Sans"/>
                <a:ea typeface="Noto Sans"/>
              </a:rPr>
              <a:t>POSTECH </a:t>
            </a:r>
            <a:r>
              <a:rPr lang="en-US" sz="939" b="0" strike="noStrike" spc="-1" dirty="0" smtClean="0">
                <a:solidFill>
                  <a:srgbClr val="9CA3AF"/>
                </a:solidFill>
                <a:latin typeface="Noto Sans"/>
                <a:ea typeface="Noto Sans"/>
              </a:rPr>
              <a:t>– </a:t>
            </a:r>
            <a:r>
              <a:rPr lang="en-US" sz="939" spc="-1" dirty="0" smtClean="0">
                <a:solidFill>
                  <a:srgbClr val="9CA3AF"/>
                </a:solidFill>
                <a:latin typeface="Noto Sans"/>
                <a:ea typeface="Noto Sans"/>
              </a:rPr>
              <a:t>DATATHON – FASE 5</a:t>
            </a:r>
            <a:endParaRPr lang="pt-BR" sz="939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2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3" name="Retângulo 2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5" name="Conector reto 24"/>
            <p:cNvCxnSpPr/>
            <p:nvPr/>
          </p:nvCxnSpPr>
          <p:spPr>
            <a:xfrm>
              <a:off x="204912" y="4655666"/>
              <a:ext cx="864096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7" name="Text 13"/>
          <p:cNvSpPr/>
          <p:nvPr/>
        </p:nvSpPr>
        <p:spPr>
          <a:xfrm>
            <a:off x="8820472" y="4781705"/>
            <a:ext cx="115160" cy="1231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1" spc="-1" dirty="0" smtClean="0">
                <a:solidFill>
                  <a:srgbClr val="FF0066"/>
                </a:solidFill>
                <a:latin typeface="Noto Sans"/>
              </a:rPr>
              <a:t>09</a:t>
            </a:r>
            <a:endParaRPr lang="pt-BR" sz="800" b="0" strike="noStrike" spc="-1" dirty="0">
              <a:solidFill>
                <a:srgbClr val="FF0066"/>
              </a:solidFill>
              <a:latin typeface="Arial"/>
            </a:endParaRPr>
          </a:p>
        </p:txBody>
      </p:sp>
      <p:sp>
        <p:nvSpPr>
          <p:cNvPr id="13" name="Text 0"/>
          <p:cNvSpPr/>
          <p:nvPr/>
        </p:nvSpPr>
        <p:spPr>
          <a:xfrm>
            <a:off x="2918049" y="699542"/>
            <a:ext cx="3094111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6992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dirty="0" smtClean="0">
                <a:solidFill>
                  <a:srgbClr val="FF0066"/>
                </a:solidFill>
              </a:rPr>
              <a:t>Recomendações de Ação</a:t>
            </a:r>
            <a:endParaRPr lang="pt-BR" sz="2000" b="0" strike="noStrike" spc="-1" dirty="0">
              <a:solidFill>
                <a:srgbClr val="FF0066"/>
              </a:solidFill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323528" y="1275606"/>
            <a:ext cx="8352928" cy="7386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just"/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A aplicação de Deep Learning permitiu transformar um grande volume de reclamações em </a:t>
            </a:r>
            <a:r>
              <a:rPr lang="pt-BR" sz="1200" b="1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inteligência acionável</a:t>
            </a:r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, permitindo compreender não apenas se os clientes estão insatisfeitos, mas </a:t>
            </a:r>
            <a:r>
              <a:rPr lang="pt-BR" sz="1200" b="1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por quê</a:t>
            </a:r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.</a:t>
            </a:r>
          </a:p>
          <a:p>
            <a:pPr algn="just"/>
            <a:endParaRPr lang="pt-BR" sz="1200" dirty="0" smtClean="0">
              <a:solidFill>
                <a:schemeClr val="bg1">
                  <a:lumMod val="75000"/>
                </a:schemeClr>
              </a:solidFill>
              <a:latin typeface="Noto Sans"/>
            </a:endParaRPr>
          </a:p>
          <a:p>
            <a:pPr algn="just"/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</a:rPr>
              <a:t>Com base nos resultados obtidos, recomendamos:</a:t>
            </a:r>
            <a:endParaRPr lang="pt-BR" sz="1200" dirty="0">
              <a:solidFill>
                <a:schemeClr val="bg1">
                  <a:lumMod val="75000"/>
                </a:schemeClr>
              </a:solidFill>
              <a:latin typeface="Noto Sans"/>
            </a:endParaRPr>
          </a:p>
        </p:txBody>
      </p:sp>
      <p:sp>
        <p:nvSpPr>
          <p:cNvPr id="15" name="Text 0"/>
          <p:cNvSpPr/>
          <p:nvPr/>
        </p:nvSpPr>
        <p:spPr>
          <a:xfrm>
            <a:off x="4276142" y="51470"/>
            <a:ext cx="590996" cy="3108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20" b="1" strike="noStrike" spc="-1" dirty="0">
                <a:solidFill>
                  <a:srgbClr val="FF0066"/>
                </a:solidFill>
                <a:latin typeface="Noto Sans"/>
                <a:ea typeface="Noto Sans"/>
              </a:rPr>
              <a:t>FIAP</a:t>
            </a:r>
            <a:endParaRPr lang="pt-BR" sz="2020" b="0" strike="noStrike" spc="-1" dirty="0">
              <a:solidFill>
                <a:srgbClr val="FF0066"/>
              </a:solidFill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3610772" y="434154"/>
            <a:ext cx="1921745" cy="1445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39" b="0" strike="noStrike" spc="-1" dirty="0">
                <a:solidFill>
                  <a:srgbClr val="9CA3AF"/>
                </a:solidFill>
                <a:latin typeface="Noto Sans"/>
                <a:ea typeface="Noto Sans"/>
              </a:rPr>
              <a:t>POSTECH </a:t>
            </a:r>
            <a:r>
              <a:rPr lang="en-US" sz="939" b="0" strike="noStrike" spc="-1" dirty="0" smtClean="0">
                <a:solidFill>
                  <a:srgbClr val="9CA3AF"/>
                </a:solidFill>
                <a:latin typeface="Noto Sans"/>
                <a:ea typeface="Noto Sans"/>
              </a:rPr>
              <a:t>– </a:t>
            </a:r>
            <a:r>
              <a:rPr lang="en-US" sz="939" spc="-1" dirty="0" smtClean="0">
                <a:solidFill>
                  <a:srgbClr val="9CA3AF"/>
                </a:solidFill>
                <a:latin typeface="Noto Sans"/>
                <a:ea typeface="Noto Sans"/>
              </a:rPr>
              <a:t>DATATHON – FASE 5</a:t>
            </a:r>
            <a:endParaRPr lang="pt-BR" sz="939" b="0" strike="noStrike" spc="-1" dirty="0"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323528" y="2139702"/>
            <a:ext cx="8136904" cy="22159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r>
              <a:rPr lang="pt-BR" sz="1200" b="1" dirty="0" smtClean="0">
                <a:solidFill>
                  <a:srgbClr val="FF0066"/>
                </a:solidFill>
                <a:latin typeface="Noto Sans"/>
              </a:rPr>
              <a:t>1. Automação de Contestações</a:t>
            </a:r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/>
            </a:r>
            <a:br>
              <a:rPr lang="pt-BR" sz="12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</a:br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Criar fluxos prioritários para reclamações relacionadas a </a:t>
            </a:r>
            <a:r>
              <a:rPr lang="pt-BR" sz="1200" b="1" dirty="0" err="1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inaccurate</a:t>
            </a:r>
            <a:r>
              <a:rPr lang="pt-BR" sz="1200" b="1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 </a:t>
            </a:r>
            <a:r>
              <a:rPr lang="pt-BR" sz="1200" b="1" dirty="0" err="1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information</a:t>
            </a:r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, permitindo resolução mais rápida via aplicativo ou canais digitais.</a:t>
            </a:r>
          </a:p>
          <a:p>
            <a:r>
              <a:rPr lang="pt-BR" sz="1200" b="1" dirty="0" smtClean="0">
                <a:solidFill>
                  <a:srgbClr val="FF0066"/>
                </a:solidFill>
                <a:latin typeface="Noto Sans"/>
              </a:rPr>
              <a:t>2. Priorização Inteligente de Tickets</a:t>
            </a:r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/>
            </a:r>
            <a:br>
              <a:rPr lang="pt-BR" sz="12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</a:br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Utilizar o modelo de classificação para identificar automaticamente reclamações críticas e direcioná-las para equipes especializadas.</a:t>
            </a:r>
          </a:p>
          <a:p>
            <a:r>
              <a:rPr lang="pt-BR" sz="1200" b="1" dirty="0" smtClean="0">
                <a:solidFill>
                  <a:srgbClr val="FF0066"/>
                </a:solidFill>
                <a:latin typeface="Noto Sans"/>
              </a:rPr>
              <a:t>3. Revisão de Processos de Cobrança</a:t>
            </a:r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/>
            </a:r>
            <a:br>
              <a:rPr lang="pt-BR" sz="12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</a:br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Revisar scripts e práticas de contato com clientes para reduzir atritos detectados nas reclamações relacionadas a cobrança.</a:t>
            </a:r>
          </a:p>
          <a:p>
            <a:r>
              <a:rPr lang="pt-BR" sz="1200" b="1" dirty="0" smtClean="0">
                <a:solidFill>
                  <a:srgbClr val="FF0066"/>
                </a:solidFill>
                <a:latin typeface="Noto Sans"/>
              </a:rPr>
              <a:t>4. Monitoramento Preventivo de Fraude</a:t>
            </a:r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/>
            </a:r>
            <a:br>
              <a:rPr lang="pt-BR" sz="12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</a:br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Implementar alertas proativos para clientes com múltiplas consultas de crédito (</a:t>
            </a:r>
            <a:r>
              <a:rPr lang="pt-BR" sz="1200" dirty="0" err="1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hard</a:t>
            </a:r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 </a:t>
            </a:r>
            <a:r>
              <a:rPr lang="pt-BR" sz="1200" dirty="0" err="1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inquiry</a:t>
            </a:r>
            <a:r>
              <a:rPr lang="pt-BR" sz="1200" dirty="0" smtClean="0">
                <a:solidFill>
                  <a:schemeClr val="bg1">
                    <a:lumMod val="75000"/>
                  </a:schemeClr>
                </a:solidFill>
                <a:latin typeface="Noto Sans"/>
              </a:rPr>
              <a:t>), reduzindo riscos de fraude e insatisfação.</a:t>
            </a:r>
            <a:endParaRPr lang="pt-BR" sz="1200" dirty="0">
              <a:solidFill>
                <a:schemeClr val="bg1">
                  <a:lumMod val="75000"/>
                </a:schemeClr>
              </a:solidFill>
              <a:latin typeface="Noto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</TotalTime>
  <Words>699</Words>
  <Application>Microsoft Office PowerPoint</Application>
  <PresentationFormat>Apresentação na tela (16:9)</PresentationFormat>
  <Paragraphs>83</Paragraphs>
  <Slides>8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Marcos Aurélio</cp:lastModifiedBy>
  <cp:revision>62</cp:revision>
  <dcterms:created xsi:type="dcterms:W3CDTF">2025-08-25T22:38:20Z</dcterms:created>
  <dcterms:modified xsi:type="dcterms:W3CDTF">2026-03-24T22:55:07Z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Apresentação na tela (16:9)</vt:lpwstr>
  </property>
  <property fmtid="{D5CDD505-2E9C-101B-9397-08002B2CF9AE}" pid="4" name="Slides">
    <vt:i4>10</vt:i4>
  </property>
</Properties>
</file>